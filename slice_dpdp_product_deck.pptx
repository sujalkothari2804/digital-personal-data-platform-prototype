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VCCR %</c:v>
                </c:pt>
              </c:strCache>
            </c:strRef>
          </c:tx>
          <c:spPr>
            <a:solidFill>
              <a:srgbClr val="00C9A7"/>
            </a:solidFill>
            <a:ln w="31750" cap="flat">
              <a:solidFill>
                <a:srgbClr val="00C9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78</c:v>
                </c:pt>
                <c:pt idx="1">
                  <c:v>82</c:v>
                </c:pt>
                <c:pt idx="2">
                  <c:v>85</c:v>
                </c:pt>
                <c:pt idx="3">
                  <c:v>88</c:v>
                </c:pt>
                <c:pt idx="4">
                  <c:v>90</c:v>
                </c:pt>
                <c:pt idx="5">
                  <c:v>91</c:v>
                </c:pt>
                <c:pt idx="6">
                  <c:v>92</c:v>
                </c:pt>
                <c:pt idx="7">
                  <c:v>89</c:v>
                </c:pt>
                <c:pt idx="8">
                  <c:v>91</c:v>
                </c:pt>
                <c:pt idx="9">
                  <c:v>93</c:v>
                </c:pt>
                <c:pt idx="10">
                  <c:v>94</c:v>
                </c:pt>
                <c:pt idx="11">
                  <c:v>94.2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1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AE5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1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2A1B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A1B5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822960" cy="822960"/>
          </a:xfrm>
          <a:prstGeom prst="ellipse">
            <a:avLst/>
          </a:prstGeom>
          <a:solidFill>
            <a:srgbClr val="00C9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9299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INTERN HIRING ASSIGNMENT · VEDANTU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Consent, Trust &amp; Compliance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Redesigning slice's data &amp; consent experience for the DPDP Act, 2023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(slice Small Finance Bank) — UPI credit card &amp; credit line app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data-sharing experience for first-time credit users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Vedantu Product Management Internship case study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slice's consent flow needs to change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began as a credit card for students and has become a licensed bank </a:t>
            </a:r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(slice Small Finance Bank, merged Oct 2024)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serving India's largest pool of first-time, new-to-credit borrowers. Onboarding today bundles KYC data collection, credit-bureau reporting, and merchant-offer data sharing behind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“Accept All &amp; Continue” checkbox.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0083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risk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328269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Section 6 requires consent to be free, specific, informed and itemised per purpose — bundled consent is a direct compliance gap, penalties up to ₹250 Cr.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9592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9410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trust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05840" y="421538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are 18–25 y/o, first interaction with formal credit — low awareness of what data leaves the app or why.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2861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4873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05840" y="514807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is now a regulated bank: PAN, Aadhaar, income and repayment data are financial + identity data, not just app usage data.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995160" y="1234440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5087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240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Assumptions made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269480" y="2112264"/>
            <a:ext cx="82296" cy="8229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0" y="19842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slice's current onboarding uses a single bundled consent checkbox (based on standard fintech BNPL/credit-app patterns; not independently confirmed against the live app).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269480" y="2734056"/>
            <a:ext cx="82296" cy="8229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0" name="Text 14"/>
          <p:cNvSpPr/>
          <p:nvPr/>
        </p:nvSpPr>
        <p:spPr>
          <a:xfrm>
            <a:off x="7498080" y="26060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new sign-ups are first-time formal credit users aged 18–24.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269480" y="3355848"/>
            <a:ext cx="82296" cy="8229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16"/>
          <p:cNvSpPr/>
          <p:nvPr/>
        </p:nvSpPr>
        <p:spPr>
          <a:xfrm>
            <a:off x="7498080" y="32278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shared with: credit bureaus (mandatory, RBI-linked), lending/KYC verification partners (mandatory), and merchant partners for “slice Spark” personalised offers (optional).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269480" y="3977640"/>
            <a:ext cx="82296" cy="8229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4" name="Text 18"/>
          <p:cNvSpPr/>
          <p:nvPr/>
        </p:nvSpPr>
        <p:spPr>
          <a:xfrm>
            <a:off x="7498080" y="384962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in-app self-service flow today for viewing, correcting, or withdrawing consent beyond closing the account.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269480" y="4599432"/>
            <a:ext cx="82296" cy="8229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6" name="Text 20"/>
          <p:cNvSpPr/>
          <p:nvPr/>
        </p:nvSpPr>
        <p:spPr>
          <a:xfrm>
            <a:off x="7498080" y="44714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Schedule (children's-data exemptions) is not yet notified — full Section 9 compliance is assumed wherever a minor is suspected.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feels this problem 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840480" cy="5074920"/>
          </a:xfrm>
          <a:prstGeom prst="roundRect">
            <a:avLst>
              <a:gd name="adj" fmla="val 1905"/>
            </a:avLst>
          </a:prstGeom>
          <a:solidFill>
            <a:srgbClr val="1B1035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600200"/>
            <a:ext cx="1737360" cy="1737360"/>
          </a:xfrm>
          <a:prstGeom prst="ellipse">
            <a:avLst/>
          </a:prstGeom>
          <a:solidFill>
            <a:srgbClr val="2A1B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1031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Aarav, 19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2nd-year engineering student, Tier-2 city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formal credit product ever — no CIBIL history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Applying for a ₹15,000 credit line to buy a laptop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terms rarely; taps through onboarding fast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Owns 1 smartphone; shares data plan with family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344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context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663440" y="157276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represents the largest cohort on slice: young, mobile-first, new-to-credit borrowers for whom this is often their first encounter with formal KYC and data-sharing consent — not just for themselves, but as a template for how they'll treat consent requests for the rest of their financial lives.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6344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Pain points today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63440" y="3017520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F7F5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1868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3072384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what's mandatory vs optional — one tap accepts KYC sharing, bureau reporting, and merchant-offer personalisation together.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3931920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F7F5F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13308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40680" y="3986784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opt out of “slice Spark” offer personalisation without abandoning the credit product entirely.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4846320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F7F5F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504748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4901184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who his data has been shared with, or when consent was given, once onboarding is done.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663440" y="5760720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F7F5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596188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5815584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self-serve path to correct KYC details or request erasure — must raise a support ticket and wait.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Today's flow bundles everything into one tap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CURRENT EXPERIENCE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9908" y="1536192"/>
            <a:ext cx="512064" cy="512064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6476" y="160276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sign up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 + basic details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029968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19272" y="1371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20540" y="1536192"/>
            <a:ext cx="512064" cy="512064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108" y="1602760"/>
            <a:ext cx="378927" cy="3789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10712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via PAN / Aadhaar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410712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verified with partner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029968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89904" y="1371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CEFEF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91172" y="153619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740" y="1602760"/>
            <a:ext cx="378927" cy="37892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81344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“Accept All &amp; Continue”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6181344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checkbox: KYC use, bureau reporting, Spark offers, marketing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2029968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860536" y="1371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861804" y="1536192"/>
            <a:ext cx="512064" cy="512064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8372" y="1602760"/>
            <a:ext cx="378927" cy="37892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951976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line issued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8951976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state never revisited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548640" y="3337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this falls short of DPDP expectations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548640" y="37490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DF6F6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913632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31520" y="4251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itemised notice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731520" y="45537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5/6 requires purpose-specific notice in clear language before each distinct use of data — not one omnibus checkbox.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3511296" y="37490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DF6F6"/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4176" y="3913632"/>
            <a:ext cx="292608" cy="29260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694176" y="4251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granular consent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3694176" y="45537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(KYC, bureau) and optional (Spark, marketing) purposes aren't separable — users can't decline optional sharing alone.</a:t>
            </a:r>
            <a:endParaRPr lang="en-US" sz="950" dirty="0"/>
          </a:p>
        </p:txBody>
      </p:sp>
      <p:sp>
        <p:nvSpPr>
          <p:cNvPr id="36" name="Shape 25"/>
          <p:cNvSpPr/>
          <p:nvPr/>
        </p:nvSpPr>
        <p:spPr>
          <a:xfrm>
            <a:off x="6473952" y="37490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DF6F6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6832" y="3913632"/>
            <a:ext cx="292608" cy="29260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656832" y="4251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withdrawal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6656832" y="45537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must be as easy to withdraw as to give; today it requires a support ticket or account closure.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9436608" y="37490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DF6F6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9488" y="3913632"/>
            <a:ext cx="292608" cy="29260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9619488" y="4251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rights self-service</a:t>
            </a:r>
            <a:endParaRPr lang="en-US" sz="1200" dirty="0"/>
          </a:p>
        </p:txBody>
      </p:sp>
      <p:sp>
        <p:nvSpPr>
          <p:cNvPr id="43" name="Text 30"/>
          <p:cNvSpPr/>
          <p:nvPr/>
        </p:nvSpPr>
        <p:spPr>
          <a:xfrm>
            <a:off x="9619488" y="45537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correction, and erasure rights (Sec. 11–13) aren't exposed in-app with a defined turnaround.</a:t>
            </a:r>
            <a:endParaRPr lang="en-US" sz="950" dirty="0"/>
          </a:p>
        </p:txBody>
      </p:sp>
      <p:sp>
        <p:nvSpPr>
          <p:cNvPr id="44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layered, granular Consent Center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PROPOSED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580083"/>
            <a:ext cx="405994" cy="40599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Itemised onboarding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77240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single checkbox with 3 clearly separated toggles: (1) Mandatory — KYC + bureau reporting, plainly explained; (2) Optional — Spark offer personalisation; (3) Optional — marketing messages.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88536" y="1280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17136" y="1508760"/>
            <a:ext cx="548640" cy="548640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459" y="1580083"/>
            <a:ext cx="405994" cy="405994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64592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17136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In-app Consent Center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517136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“Privacy &amp; Consent” screen to view active consents, withdraw optional ones anytime, see a data-sharing log, and raise access/correction/erasure requests with a visible SLA.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028432" y="12801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257032" y="1508760"/>
            <a:ext cx="548640" cy="548640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355" y="1580083"/>
            <a:ext cx="405994" cy="405994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164592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57032" y="2240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Age-integrity checkpoint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8257032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Aadhaar-based KYC already carries DOB; add a graceful, explained decline (not a silent rejection) if a minor is flagged, closing the proxy/forged-document loophole.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1035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93776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32588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over the alternatives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1325880" y="528523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legal T&amp;C page is compliant but hides the choice and hurts trust. A full third-party consent-manager integration is the most future-proof option but is heavier to build and not yet mandated. The layered Consent Center is the middle path: one extra, skimmable screen at onboarding, fully reversible after — compliant without tanking conversion.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Metrics &amp; success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6 · METRICS + SUCCESS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B1035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Valid Consent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Coverage 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active users with itemised, current (&lt;12 mo) consent on file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≥95%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Supporting metrics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7F5FC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consent completion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completing the new itemised screen · vs. old bundled baseline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450592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7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opt-in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7980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opting in to Spark personalisation / marketing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3346704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7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419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Rights-request SLA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6941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days to resolve access / correction / erasure requests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24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Guardrail metrics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15544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FDF6F6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168249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577072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Onboarding→activation conversion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577072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drop &gt;2pp vs. pre-launch baseline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92440" y="2450592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FDF6F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257860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577072" y="2523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Consent/privacy support tickets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8577072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fall, not spike, post-launch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092440" y="33832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monitored, not tested — granular consent ships regardless of conversion impact.</a:t>
            </a:r>
            <a:endParaRPr lang="en-US" sz="830" dirty="0"/>
          </a:p>
        </p:txBody>
      </p:sp>
      <p:sp>
        <p:nvSpPr>
          <p:cNvPr id="29" name="Text 25"/>
          <p:cNvSpPr/>
          <p:nvPr/>
        </p:nvSpPr>
        <p:spPr>
          <a:xfrm>
            <a:off x="548640" y="3822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Success criteria (60–90 days post-launch)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48640" y="41605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640080" y="4270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≥ 95%</a:t>
            </a:r>
            <a:endParaRPr lang="en-US" sz="2600" dirty="0"/>
          </a:p>
        </p:txBody>
      </p:sp>
      <p:sp>
        <p:nvSpPr>
          <p:cNvPr id="32" name="Text 28"/>
          <p:cNvSpPr/>
          <p:nvPr/>
        </p:nvSpPr>
        <p:spPr>
          <a:xfrm>
            <a:off x="640080" y="4846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Consent Coverage Rate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383280" y="41605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3474720" y="4270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≤ 2 pp</a:t>
            </a:r>
            <a:endParaRPr lang="en-US" sz="2600" dirty="0"/>
          </a:p>
        </p:txBody>
      </p:sp>
      <p:sp>
        <p:nvSpPr>
          <p:cNvPr id="35" name="Text 31"/>
          <p:cNvSpPr/>
          <p:nvPr/>
        </p:nvSpPr>
        <p:spPr>
          <a:xfrm>
            <a:off x="3474720" y="4846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onboarding→activation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217920" y="41605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6309360" y="4270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≤ 5 days</a:t>
            </a:r>
            <a:endParaRPr lang="en-US" sz="2600" dirty="0"/>
          </a:p>
        </p:txBody>
      </p:sp>
      <p:sp>
        <p:nvSpPr>
          <p:cNvPr id="38" name="Text 34"/>
          <p:cNvSpPr/>
          <p:nvPr/>
        </p:nvSpPr>
        <p:spPr>
          <a:xfrm>
            <a:off x="6309360" y="4846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rights-request SLA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9052560" y="41605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9144000" y="4270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2600" dirty="0"/>
          </a:p>
        </p:txBody>
      </p:sp>
      <p:sp>
        <p:nvSpPr>
          <p:cNvPr id="41" name="Text 37"/>
          <p:cNvSpPr/>
          <p:nvPr/>
        </p:nvSpPr>
        <p:spPr>
          <a:xfrm>
            <a:off x="9144000" y="4846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Board notices / complaints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North Star drops 15% in week 3 — no release shipped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DIAGNOSTIC THINKING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Hypothesis tree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7F5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5506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bug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Consent-log write failures after an unrelated backend deploy — metric is wrong, not reality.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2816352" y="150876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7F5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16550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53512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staleness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953512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cohort crosses the 12-month re-consent threshold together — expected decay, not a failure.</a:t>
            </a:r>
            <a:endParaRPr lang="en-US" sz="870" dirty="0"/>
          </a:p>
        </p:txBody>
      </p:sp>
      <p:sp>
        <p:nvSpPr>
          <p:cNvPr id="13" name="Shape 9"/>
          <p:cNvSpPr/>
          <p:nvPr/>
        </p:nvSpPr>
        <p:spPr>
          <a:xfrm>
            <a:off x="5084064" y="150876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7F5F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165506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1224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Vendor/API change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221224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or bureau partner changed a data schema; consent records fail validation on write.</a:t>
            </a:r>
            <a:endParaRPr lang="en-US" sz="870" dirty="0"/>
          </a:p>
        </p:txBody>
      </p:sp>
      <p:sp>
        <p:nvSpPr>
          <p:cNvPr id="17" name="Shape 12"/>
          <p:cNvSpPr/>
          <p:nvPr/>
        </p:nvSpPr>
        <p:spPr>
          <a:xfrm>
            <a:off x="7351776" y="150876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7F5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65506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88936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shock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7488936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cycle or viral post about a fintech data leak drives a wave of manual opt-outs.</a:t>
            </a:r>
            <a:endParaRPr lang="en-US" sz="870" dirty="0"/>
          </a:p>
        </p:txBody>
      </p:sp>
      <p:sp>
        <p:nvSpPr>
          <p:cNvPr id="21" name="Shape 15"/>
          <p:cNvSpPr/>
          <p:nvPr/>
        </p:nvSpPr>
        <p:spPr>
          <a:xfrm>
            <a:off x="9619488" y="150876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7F5F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1655064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56648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cleanup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9756648" y="2423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sweep closes fake accounts in bulk, mechanically shrinking the valid-consent base.</a:t>
            </a:r>
            <a:endParaRPr lang="en-US" sz="870" dirty="0"/>
          </a:p>
        </p:txBody>
      </p:sp>
      <p:sp>
        <p:nvSpPr>
          <p:cNvPr id="25" name="Text 18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I'd pull first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48640" y="40233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Consent event logs by day &amp; cohort (new vs. renewing)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8640" y="43342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Funnel drop-off at each toggle step, by platform/OS version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46451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&amp; vendor-status timelines around the drop date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49560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tickets, app-store reviews, social mentions for sentiment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649224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I'd find the root cause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492240" y="4041648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2" name="Text 25"/>
          <p:cNvSpPr/>
          <p:nvPr/>
        </p:nvSpPr>
        <p:spPr>
          <a:xfrm>
            <a:off x="6492240" y="4041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803136" y="39959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instrumentation first (cheapest check)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492240" y="4352544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5" name="Text 28"/>
          <p:cNvSpPr/>
          <p:nvPr/>
        </p:nvSpPr>
        <p:spPr>
          <a:xfrm>
            <a:off x="6492240" y="4352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803136" y="43068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drop by cohort — new sign-ups vs. staleness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492240" y="4663440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8" name="Text 31"/>
          <p:cNvSpPr/>
          <p:nvPr/>
        </p:nvSpPr>
        <p:spPr>
          <a:xfrm>
            <a:off x="6492240" y="4663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6803136" y="46177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external dependencies — bureau/KYC vendor status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492240" y="4974336"/>
            <a:ext cx="219456" cy="21945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1" name="Text 34"/>
          <p:cNvSpPr/>
          <p:nvPr/>
        </p:nvSpPr>
        <p:spPr>
          <a:xfrm>
            <a:off x="6492240" y="4974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6803136" y="49286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live flow myself to rule out a UI regression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1035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77724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777240" y="57424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if it's a logging bug · targeted re-consent nudge campaign if it's staleness · vendor escalation if it's an API break · trust-rebuilding comms if it's sentiment-driven.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Consent Health Dashboard (mock data)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KPI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94.2%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Consent Coverage Rate ▲ 1.8pp vs. last week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474720" y="1234440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VCCR — last 90 days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566160" y="1645920"/>
          <a:ext cx="44805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321040" y="123444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0392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metrics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0392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60704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50392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opt-in (Spark)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60704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61.0%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5039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Rights-request SLA (median)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60704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days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039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tickets / week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60704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(▼12%)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Segmentation — by age band &amp; platform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548640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Opt-in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035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18–21 y/o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22–25 y/o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26+ y/o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1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6355080" y="416052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370832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9516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note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583680" y="47548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cities show 4–6pp lower VCCR than metros — likely lower digital literacy around consent toggles. Flagged for a simplified-language variant in the next iteration.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Rollout: staged, compliance-first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ROLLOUT PLAN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B103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Dogfood + legal review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 + legal/compliance sign-off on copy, mandatory-vs-optional split, and DPDP notice language.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224028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1" name="Shape 9"/>
          <p:cNvSpPr/>
          <p:nvPr/>
        </p:nvSpPr>
        <p:spPr>
          <a:xfrm>
            <a:off x="3355848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463040"/>
            <a:ext cx="457200" cy="457200"/>
          </a:xfrm>
          <a:prstGeom prst="ellipse">
            <a:avLst/>
          </a:prstGeom>
          <a:solidFill>
            <a:srgbClr val="1B1035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8728" y="1993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38728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5% staged rollout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38728" y="2633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sign-ups only, behind a feature flag; existing users stay on the old flow. Monitor VCCR, completion rate, tickets daily.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0176" y="224028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8" name="Shape 16"/>
          <p:cNvSpPr/>
          <p:nvPr/>
        </p:nvSpPr>
        <p:spPr>
          <a:xfrm>
            <a:off x="6163056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1463040"/>
            <a:ext cx="457200" cy="457200"/>
          </a:xfrm>
          <a:prstGeom prst="ellipse">
            <a:avLst/>
          </a:prstGeom>
          <a:solidFill>
            <a:srgbClr val="1B1035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5936" y="1993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45936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Ramp to 100% new users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45936" y="2633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5%→50%→100% of new sign-ups over 2–3 weeks if guardrails hold.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87384" y="224028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70264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53144" y="1463040"/>
            <a:ext cx="457200" cy="457200"/>
          </a:xfrm>
          <a:prstGeom prst="ellipse">
            <a:avLst/>
          </a:prstGeom>
          <a:solidFill>
            <a:srgbClr val="1B1035"/>
          </a:solidFill>
          <a:ln/>
        </p:spPr>
      </p:sp>
      <p:sp>
        <p:nvSpPr>
          <p:cNvPr id="27" name="Text 25"/>
          <p:cNvSpPr/>
          <p:nvPr/>
        </p:nvSpPr>
        <p:spPr>
          <a:xfrm>
            <a:off x="91531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3144" y="19933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53144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Migrate existing base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53144" y="263347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in-app re-consent prompt for existing users, paced to the DPDP transition timeline, with reminders.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1B1035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913632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325880" y="39136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Experimentation approach — and where A/B testing doesn't apply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325880" y="4343400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A/B test: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toggle order, and microcopy on the optional-consent screen — these affect opt-in rate without changing what's legally required.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A/B test: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4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show itemised, granular consent at all. That's a compliance requirement, not a growth lever — it ships to 100% of users regardless of its measured effect on conversion. We monitor guardrails and mitigate (e.g. clearer copy, faster support) rather than test-and-decide on the core mechanism.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Risks &amp; trade-offs we're accepting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RISKS &amp; TRADE-OFFS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630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444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Engineering complexity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70432" y="1783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consent-ledger service + audit trail + a rights-request backend with SLA tracking is a meaningful build, not a copy change.</a:t>
            </a:r>
            <a:endParaRPr lang="en-US" sz="97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4630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9712" y="1444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39712" y="1783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toggles may reduce Spark opt-in and add 1–2pp onboarding drop-off — acceptable given the compliance requirement and trust upside.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548640" y="29260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089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090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impact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70432" y="3429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share of users faces more friction (one extra screen); the majority gains clarity and control.</a:t>
            </a:r>
            <a:endParaRPr lang="en-US" sz="970" dirty="0"/>
          </a:p>
        </p:txBody>
      </p:sp>
      <p:sp>
        <p:nvSpPr>
          <p:cNvPr id="16" name="Shape 11"/>
          <p:cNvSpPr/>
          <p:nvPr/>
        </p:nvSpPr>
        <p:spPr>
          <a:xfrm>
            <a:off x="6217920" y="2926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7F5FC"/>
          </a:solidFill>
          <a:ln/>
          <a:effectLst>
            <a:outerShdw sx="100000" sy="100000" kx="0" ky="0" algn="bl" rotWithShape="0" blurRad="101600" dist="38100" dir="5400000">
              <a:srgbClr val="1B1035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10896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39712" y="3090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03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Edge cases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39712" y="342900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7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decline mandatory KYC/bureau consent simply can't get a credit product — must be explained plainly, no dark patterns. Minors flagged at KYC get a graceful, explained decline. Erasure requests on accounts with active credit lines must be reconciled with RBI's record-retention mandate — partial erasure with clear user-facing explanation.</a:t>
            </a:r>
            <a:endParaRPr lang="en-US" sz="970" dirty="0"/>
          </a:p>
        </p:txBody>
      </p:sp>
      <p:sp>
        <p:nvSpPr>
          <p:cNvPr id="20" name="Shape 14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DF6F6"/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accepted: </a:t>
            </a:r>
            <a:pPr indent="0" marL="0">
              <a:buNone/>
            </a:pPr>
            <a:r>
              <a:rPr lang="en-US" sz="10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prioritise compliance and trust (must-have) over maximising Spark opt-in revenue (nice-to-have) in v1.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× DPDP Act 2023  |  Product Thinking Deck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Consent, Trust &amp; Compliance — Redesigning Data Privacy for slice</dc:title>
  <dc:subject>PptxGenJS Presentation</dc:subject>
  <dc:creator>PM Intern Candidate</dc:creator>
  <cp:lastModifiedBy>PM Intern Candidate</cp:lastModifiedBy>
  <cp:revision>1</cp:revision>
  <dcterms:created xsi:type="dcterms:W3CDTF">2026-07-03T06:47:22Z</dcterms:created>
  <dcterms:modified xsi:type="dcterms:W3CDTF">2026-07-03T06:47:22Z</dcterms:modified>
</cp:coreProperties>
</file>